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7aefaa5e0_0_6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7aefaa5e0_0_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Heterogeneity in breast cancer means that no two tumors are genetically identical, making it hard to find universal biomarkers for diagnosis and treatment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7aefaa5e0_0_1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7aefaa5e0_0_1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 is an alignment tool that maps raw RNA sequencing reads to the human reference genome and counts how many reads land on each gene.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 are 60,660 genes and 1,224 samples (this is the full transcriptomic profile for the BRCA cohort).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7aefaa5e0_0_1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7aefaa5e0_0_1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9d121db3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9d121db3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7aefaa5e0_0_1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7aefaa5e0_0_1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9d121db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9d121db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9d121db3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9d121db3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PAM50: the standard </a:t>
            </a:r>
            <a:r>
              <a:rPr lang="en"/>
              <a:t>molecular</a:t>
            </a:r>
            <a:r>
              <a:rPr lang="en"/>
              <a:t> classification for breast cancer.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Stands for Prediction Analysis of Microarray 50 (a 50 gene signature assay used to classify breast cancer into subtypes)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picked MMP11 because it was one of the top hits for breast cancer on my heatmap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wanted to see how the gene expression of MMP11 would differ across these </a:t>
            </a:r>
            <a:r>
              <a:rPr lang="en"/>
              <a:t>clinical</a:t>
            </a:r>
            <a:r>
              <a:rPr lang="en"/>
              <a:t> subtypes My hypothesis was that it would have the highest expression in Basal, which is the most aggressive form of </a:t>
            </a:r>
            <a:r>
              <a:rPr lang="en"/>
              <a:t>breast cancer.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7aefaa5e0_0_1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7aefaa5e0_0_1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9d121db33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9d121db33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cancer.org/cancer/types/breast-cancer/about/how-common-is-breast-cancer.html" TargetMode="External"/><Relationship Id="rId4" Type="http://schemas.openxmlformats.org/officeDocument/2006/relationships/hyperlink" Target="https://www.cancer.org/cancer/types/breast-cancer/about/how-common-is-breast-cancer.html" TargetMode="External"/><Relationship Id="rId5" Type="http://schemas.openxmlformats.org/officeDocument/2006/relationships/hyperlink" Target="https://bioconductor.org/packages/release/bioc/html/TCGAbiolinks.html" TargetMode="External"/><Relationship Id="rId6" Type="http://schemas.openxmlformats.org/officeDocument/2006/relationships/hyperlink" Target="https://bioconductor.org/packages/release/bioc/html/TCGAbiolinks.html" TargetMode="External"/><Relationship Id="rId7" Type="http://schemas.openxmlformats.org/officeDocument/2006/relationships/hyperlink" Target="https://bioconductor.org/packages/release/bioc/vignettes/TCGAbiolinks/inst/doc/query.html" TargetMode="External"/><Relationship Id="rId8" Type="http://schemas.openxmlformats.org/officeDocument/2006/relationships/hyperlink" Target="https://bioconductor.org/packages/release/bioc/vignettes/TCGAbiolinks/inst/doc/query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1286400" y="452400"/>
            <a:ext cx="6571200" cy="187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80"/>
              <a:t>Differential Expression Analysis of TCGA Breast Cancer Data</a:t>
            </a:r>
            <a:endParaRPr sz="3380"/>
          </a:p>
        </p:txBody>
      </p:sp>
      <p:sp>
        <p:nvSpPr>
          <p:cNvPr id="59" name="Google Shape;59;p13"/>
          <p:cNvSpPr/>
          <p:nvPr/>
        </p:nvSpPr>
        <p:spPr>
          <a:xfrm>
            <a:off x="0" y="2650700"/>
            <a:ext cx="9144000" cy="2492700"/>
          </a:xfrm>
          <a:prstGeom prst="rect">
            <a:avLst/>
          </a:prstGeom>
          <a:solidFill>
            <a:srgbClr val="FFC6C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1582650" y="3051125"/>
            <a:ext cx="5978700" cy="14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</a:rPr>
              <a:t>Vaidehi Gupta</a:t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</a:rPr>
              <a:t>BS 845 Final Project Presentation</a:t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</a:rPr>
              <a:t>May 1st, 2026</a:t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3850" y="668550"/>
            <a:ext cx="1152158" cy="144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6251700" cy="28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Breast cancer is one of the most prevalent and biologically complex diseases globally, affecting 1 in 8 women (</a:t>
            </a:r>
            <a:r>
              <a:rPr b="1" i="1" lang="en" sz="1700">
                <a:solidFill>
                  <a:schemeClr val="dk2"/>
                </a:solidFill>
              </a:rPr>
              <a:t>ACS, 2026</a:t>
            </a:r>
            <a:r>
              <a:rPr lang="en" sz="1700">
                <a:solidFill>
                  <a:schemeClr val="dk2"/>
                </a:solidFill>
              </a:rPr>
              <a:t>). 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It is </a:t>
            </a:r>
            <a:r>
              <a:rPr b="1" lang="en" sz="1700">
                <a:solidFill>
                  <a:schemeClr val="dk2"/>
                </a:solidFill>
              </a:rPr>
              <a:t>highly </a:t>
            </a:r>
            <a:r>
              <a:rPr b="1" lang="en" sz="1700">
                <a:solidFill>
                  <a:schemeClr val="dk2"/>
                </a:solidFill>
              </a:rPr>
              <a:t>heterogeneous</a:t>
            </a:r>
            <a:r>
              <a:rPr lang="en" sz="1700">
                <a:solidFill>
                  <a:schemeClr val="dk2"/>
                </a:solidFill>
              </a:rPr>
              <a:t>, which makes diagnosis and targeted treatment a significant clinical challenge.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</a:pPr>
            <a:r>
              <a:rPr lang="en" sz="1700">
                <a:solidFill>
                  <a:schemeClr val="dk2"/>
                </a:solidFill>
              </a:rPr>
              <a:t>Identifying </a:t>
            </a:r>
            <a:r>
              <a:rPr b="1" lang="en" sz="1700">
                <a:solidFill>
                  <a:schemeClr val="dk2"/>
                </a:solidFill>
              </a:rPr>
              <a:t>differentially expressed genes (DEGs)</a:t>
            </a:r>
            <a:r>
              <a:rPr lang="en" sz="1700">
                <a:solidFill>
                  <a:schemeClr val="dk2"/>
                </a:solidFill>
              </a:rPr>
              <a:t> can reveal candidate biomarkers for more accurate diagnosis and treatment.</a:t>
            </a:r>
            <a:r>
              <a:rPr lang="en" sz="1700">
                <a:solidFill>
                  <a:schemeClr val="dk2"/>
                </a:solidFill>
              </a:rPr>
              <a:t>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401575" y="3494775"/>
            <a:ext cx="6678900" cy="11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Goal: </a:t>
            </a:r>
            <a:endParaRPr b="1" sz="22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Determine which genes are most significantly dysregulated between primary tumor and healthy adjacent tissue in the TCGA-BRCA cohort. </a:t>
            </a:r>
            <a:endParaRPr sz="1700"/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0" l="0" r="50313" t="0"/>
          <a:stretch/>
        </p:blipFill>
        <p:spPr>
          <a:xfrm>
            <a:off x="6764700" y="445025"/>
            <a:ext cx="1998976" cy="170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 rotWithShape="1">
          <a:blip r:embed="rId3">
            <a:alphaModFix/>
          </a:blip>
          <a:srcRect b="0" l="48065" r="0" t="0"/>
          <a:stretch/>
        </p:blipFill>
        <p:spPr>
          <a:xfrm>
            <a:off x="6764700" y="2264600"/>
            <a:ext cx="2089446" cy="1709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Source: </a:t>
            </a:r>
            <a:r>
              <a:rPr lang="en">
                <a:solidFill>
                  <a:schemeClr val="dk2"/>
                </a:solidFill>
              </a:rPr>
              <a:t>The Cancer Genome Atlas (TCGA), Breast Invasive Carcinoma (BRCA) cohort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600">
                <a:solidFill>
                  <a:schemeClr val="dk2"/>
                </a:solidFill>
              </a:rPr>
              <a:t>From the Genomic Data Commons (GDC) Portal</a:t>
            </a:r>
            <a:endParaRPr sz="16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Package:</a:t>
            </a:r>
            <a:r>
              <a:rPr lang="en">
                <a:solidFill>
                  <a:schemeClr val="dk2"/>
                </a:solidFill>
              </a:rPr>
              <a:t> TCGAbiolinks (Bioconductor)</a:t>
            </a:r>
            <a:endParaRPr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>
                <a:solidFill>
                  <a:schemeClr val="dk2"/>
                </a:solidFill>
              </a:rPr>
              <a:t>Used to query and download directly into R</a:t>
            </a:r>
            <a:endParaRPr sz="16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Data type</a:t>
            </a:r>
            <a:endParaRPr b="1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b="1" lang="en" sz="1600">
                <a:solidFill>
                  <a:schemeClr val="dk2"/>
                </a:solidFill>
              </a:rPr>
              <a:t>RNA-sequencing raw counts </a:t>
            </a:r>
            <a:r>
              <a:rPr lang="en" sz="1600">
                <a:solidFill>
                  <a:schemeClr val="dk2"/>
                </a:solidFill>
              </a:rPr>
              <a:t>(reads mapped to the genome via STAR alignment tool)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b="1" lang="en" sz="1600">
                <a:solidFill>
                  <a:schemeClr val="dk2"/>
                </a:solidFill>
              </a:rPr>
              <a:t>Clinical metadata</a:t>
            </a:r>
            <a:r>
              <a:rPr lang="en" sz="1600">
                <a:solidFill>
                  <a:schemeClr val="dk2"/>
                </a:solidFill>
              </a:rPr>
              <a:t> (PAM50 subtype, staging, vital status)</a:t>
            </a:r>
            <a:endParaRPr sz="16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Size:</a:t>
            </a:r>
            <a:r>
              <a:rPr lang="en">
                <a:solidFill>
                  <a:schemeClr val="dk2"/>
                </a:solidFill>
              </a:rPr>
              <a:t> 1,111 primary tumor and 113 solid tissue normal samples</a:t>
            </a:r>
            <a:endParaRPr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>
                <a:solidFill>
                  <a:schemeClr val="dk2"/>
                </a:solidFill>
              </a:rPr>
              <a:t>60,660 genes across 1,224 samples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2425" y="247525"/>
            <a:ext cx="1804150" cy="82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oconductor - Logos" id="78" name="Google Shape;7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3570" y="2001650"/>
            <a:ext cx="2303906" cy="66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52475"/>
            <a:ext cx="803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 sz="1600">
                <a:solidFill>
                  <a:schemeClr val="dk2"/>
                </a:solidFill>
              </a:rPr>
              <a:t>Data wrangling/filtering: </a:t>
            </a:r>
            <a:r>
              <a:rPr lang="en" sz="1600">
                <a:solidFill>
                  <a:schemeClr val="dk2"/>
                </a:solidFill>
              </a:rPr>
              <a:t>tidyverse (dplyr, tidyr)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 sz="1600">
                <a:solidFill>
                  <a:schemeClr val="dk2"/>
                </a:solidFill>
              </a:rPr>
              <a:t>Pre-filtering:</a:t>
            </a:r>
            <a:r>
              <a:rPr lang="en" sz="1600">
                <a:solidFill>
                  <a:schemeClr val="dk2"/>
                </a:solidFill>
              </a:rPr>
              <a:t> Removed low-count genes (rowSum &lt; 10) to reduce noise and improve power. 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 sz="1600">
                <a:solidFill>
                  <a:schemeClr val="dk2"/>
                </a:solidFill>
              </a:rPr>
              <a:t>Modeling: </a:t>
            </a:r>
            <a:r>
              <a:rPr lang="en" sz="1600">
                <a:solidFill>
                  <a:schemeClr val="dk2"/>
                </a:solidFill>
              </a:rPr>
              <a:t>DESeq2 (differential expression modeling)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>
                <a:solidFill>
                  <a:schemeClr val="dk2"/>
                </a:solidFill>
              </a:rPr>
              <a:t>Handles overdispersion in count data via negative binomial model, </a:t>
            </a:r>
            <a:r>
              <a:rPr lang="en" sz="1600">
                <a:solidFill>
                  <a:schemeClr val="dk2"/>
                </a:solidFill>
              </a:rPr>
              <a:t>normalizes</a:t>
            </a:r>
            <a:r>
              <a:rPr lang="en" sz="1600">
                <a:solidFill>
                  <a:schemeClr val="dk2"/>
                </a:solidFill>
              </a:rPr>
              <a:t> across samples automatically 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 sz="1600">
                <a:solidFill>
                  <a:schemeClr val="dk2"/>
                </a:solidFill>
              </a:rPr>
              <a:t>Thresholds for DEGs:</a:t>
            </a:r>
            <a:r>
              <a:rPr lang="en" sz="1600">
                <a:solidFill>
                  <a:schemeClr val="dk2"/>
                </a:solidFill>
              </a:rPr>
              <a:t> adjusted p-value &lt; 0.01 and | log</a:t>
            </a:r>
            <a:r>
              <a:rPr baseline="-25000" lang="en" sz="1600">
                <a:solidFill>
                  <a:schemeClr val="dk2"/>
                </a:solidFill>
              </a:rPr>
              <a:t>2</a:t>
            </a:r>
            <a:r>
              <a:rPr lang="en" sz="1600">
                <a:solidFill>
                  <a:schemeClr val="dk2"/>
                </a:solidFill>
              </a:rPr>
              <a:t> fold change | &gt; 2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 sz="1600">
                <a:solidFill>
                  <a:schemeClr val="dk2"/>
                </a:solidFill>
              </a:rPr>
              <a:t>Transformation: </a:t>
            </a:r>
            <a:r>
              <a:rPr lang="en" sz="1600">
                <a:solidFill>
                  <a:schemeClr val="dk2"/>
                </a:solidFill>
              </a:rPr>
              <a:t>Variance Stabilizing Transformation (VST) for downstream visualizations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>
                <a:solidFill>
                  <a:schemeClr val="dk2"/>
                </a:solidFill>
              </a:rPr>
              <a:t>Volcano Plot (EnhancedVolcano), Heatmap (ComplexHeatmap + viridis),  Boxplots and PCA (ggplot2)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 sz="1600">
                <a:solidFill>
                  <a:schemeClr val="dk2"/>
                </a:solidFill>
              </a:rPr>
              <a:t>ID mapping: </a:t>
            </a:r>
            <a:r>
              <a:rPr lang="en" sz="1600">
                <a:solidFill>
                  <a:schemeClr val="dk2"/>
                </a:solidFill>
              </a:rPr>
              <a:t>converted Ensembl IDs to gene symbols for interpretability (org.Hs.eg.db) 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068425"/>
            <a:ext cx="3784800" cy="35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Figure 1: PCA Plot</a:t>
            </a:r>
            <a:endParaRPr b="1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Shows that the data is high quality and biologically consistent.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PC1 and PC2 together explain nearly a third of total variance. 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Normal </a:t>
            </a:r>
            <a:r>
              <a:rPr lang="en" sz="1500">
                <a:solidFill>
                  <a:schemeClr val="dk2"/>
                </a:solidFill>
              </a:rPr>
              <a:t>samples</a:t>
            </a:r>
            <a:r>
              <a:rPr lang="en" sz="1500">
                <a:solidFill>
                  <a:schemeClr val="dk2"/>
                </a:solidFill>
              </a:rPr>
              <a:t> (blue) cluster tightly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Tumor samples (red) show wide spread → reflects tumor heterogeneity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Few blue dots “drifted” toward the red cluster.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en" sz="1500">
                <a:solidFill>
                  <a:schemeClr val="dk2"/>
                </a:solidFill>
              </a:rPr>
              <a:t>Means that a small # of normal samples showed tumor-like expression profiles.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91" name="Google Shape;91;p17" title="PCA_plot.png"/>
          <p:cNvPicPr preferRelativeResize="0"/>
          <p:nvPr/>
        </p:nvPicPr>
        <p:blipFill rotWithShape="1">
          <a:blip r:embed="rId3">
            <a:alphaModFix/>
          </a:blip>
          <a:srcRect b="0" l="20799" r="6198" t="0"/>
          <a:stretch/>
        </p:blipFill>
        <p:spPr>
          <a:xfrm>
            <a:off x="4527425" y="1067663"/>
            <a:ext cx="4304876" cy="358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97" name="Google Shape;97;p18" title="BRCA_Volcano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3324" y="841400"/>
            <a:ext cx="4472100" cy="372747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52475"/>
            <a:ext cx="3954900" cy="37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Figure 2: Volcano Plot</a:t>
            </a:r>
            <a:endParaRPr b="1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Visualizes the </a:t>
            </a:r>
            <a:r>
              <a:rPr lang="en" sz="1400">
                <a:solidFill>
                  <a:schemeClr val="dk2"/>
                </a:solidFill>
              </a:rPr>
              <a:t>differential</a:t>
            </a:r>
            <a:r>
              <a:rPr lang="en" sz="1400">
                <a:solidFill>
                  <a:schemeClr val="dk2"/>
                </a:solidFill>
              </a:rPr>
              <a:t> expression of over 56,000 genes. 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Top hits were defined by p-adj &lt; 0.01 and |log</a:t>
            </a:r>
            <a:r>
              <a:rPr baseline="-25000" lang="en" sz="1400">
                <a:solidFill>
                  <a:schemeClr val="dk2"/>
                </a:solidFill>
              </a:rPr>
              <a:t>2</a:t>
            </a:r>
            <a:r>
              <a:rPr lang="en" sz="1400">
                <a:solidFill>
                  <a:schemeClr val="dk2"/>
                </a:solidFill>
              </a:rPr>
              <a:t>FC| &gt; 2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en" sz="1400">
                <a:solidFill>
                  <a:schemeClr val="dk2"/>
                </a:solidFill>
              </a:rPr>
              <a:t>Most significantly upregulated genes</a:t>
            </a:r>
            <a:endParaRPr b="1" sz="14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b="1" lang="en">
                <a:solidFill>
                  <a:schemeClr val="dk2"/>
                </a:solidFill>
              </a:rPr>
              <a:t>MUC1: </a:t>
            </a:r>
            <a:r>
              <a:rPr lang="en">
                <a:solidFill>
                  <a:schemeClr val="dk2"/>
                </a:solidFill>
              </a:rPr>
              <a:t>a known oncogene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b="1" lang="en">
                <a:solidFill>
                  <a:schemeClr val="dk2"/>
                </a:solidFill>
              </a:rPr>
              <a:t>PIP:</a:t>
            </a:r>
            <a:r>
              <a:rPr lang="en">
                <a:solidFill>
                  <a:schemeClr val="dk2"/>
                </a:solidFill>
              </a:rPr>
              <a:t> tissue marker, associated with tumor proliferation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en" sz="1400">
                <a:solidFill>
                  <a:schemeClr val="dk2"/>
                </a:solidFill>
              </a:rPr>
              <a:t>Most significantly downregulated genes</a:t>
            </a:r>
            <a:endParaRPr b="1" sz="14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b="1" lang="en" sz="1400">
                <a:solidFill>
                  <a:schemeClr val="dk2"/>
                </a:solidFill>
              </a:rPr>
              <a:t>FXYD, LEP, CASP5</a:t>
            </a:r>
            <a:r>
              <a:rPr b="1" lang="en">
                <a:solidFill>
                  <a:schemeClr val="dk2"/>
                </a:solidFill>
              </a:rPr>
              <a:t>:</a:t>
            </a:r>
            <a:r>
              <a:rPr lang="en">
                <a:solidFill>
                  <a:schemeClr val="dk2"/>
                </a:solidFill>
              </a:rPr>
              <a:t> Genes associated with normal tissue function 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99" name="Google Shape;99;p18"/>
          <p:cNvCxnSpPr/>
          <p:nvPr/>
        </p:nvCxnSpPr>
        <p:spPr>
          <a:xfrm flipH="1">
            <a:off x="7123425" y="1469275"/>
            <a:ext cx="689100" cy="43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8"/>
          <p:cNvCxnSpPr/>
          <p:nvPr/>
        </p:nvCxnSpPr>
        <p:spPr>
          <a:xfrm flipH="1" rot="10800000">
            <a:off x="5131800" y="3394650"/>
            <a:ext cx="198000" cy="70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18"/>
          <p:cNvSpPr txBox="1"/>
          <p:nvPr/>
        </p:nvSpPr>
        <p:spPr>
          <a:xfrm>
            <a:off x="7486625" y="1126950"/>
            <a:ext cx="14388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Upregulated genes</a:t>
            </a:r>
            <a:endParaRPr sz="11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4315400" y="4103850"/>
            <a:ext cx="13896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Down</a:t>
            </a:r>
            <a:r>
              <a:rPr lang="en" sz="11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regulated genes</a:t>
            </a:r>
            <a:endParaRPr sz="11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08" name="Google Shape;108;p19" title="heatmap_virid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0709" y="1262562"/>
            <a:ext cx="5351290" cy="330631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152475"/>
            <a:ext cx="339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Figure 3: Top 50 DEGs Heatmap</a:t>
            </a:r>
            <a:endParaRPr b="1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Shows the top 50 differentially expressed genes across a random subsample of 200 samples (100 for tumor, 100 for normal) for visual clarity.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Hierarchical clustering cleanly separates tumor from normal with two distinct gene </a:t>
            </a:r>
            <a:r>
              <a:rPr lang="en" sz="1400">
                <a:solidFill>
                  <a:schemeClr val="dk2"/>
                </a:solidFill>
              </a:rPr>
              <a:t>expression</a:t>
            </a:r>
            <a:r>
              <a:rPr lang="en" sz="1400">
                <a:solidFill>
                  <a:schemeClr val="dk2"/>
                </a:solidFill>
              </a:rPr>
              <a:t> blocks.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Bright yellow = high expression (upregulation) 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Deep purple = low </a:t>
            </a:r>
            <a:r>
              <a:rPr lang="en" sz="1400">
                <a:solidFill>
                  <a:schemeClr val="dk2"/>
                </a:solidFill>
              </a:rPr>
              <a:t>expression</a:t>
            </a:r>
            <a:r>
              <a:rPr lang="en" sz="1400">
                <a:solidFill>
                  <a:schemeClr val="dk2"/>
                </a:solidFill>
              </a:rPr>
              <a:t> (downregulation)</a:t>
            </a:r>
            <a:endParaRPr sz="1400">
              <a:solidFill>
                <a:schemeClr val="dk2"/>
              </a:solidFill>
            </a:endParaRPr>
          </a:p>
        </p:txBody>
      </p:sp>
      <p:pic>
        <p:nvPicPr>
          <p:cNvPr id="110" name="Google Shape;110;p19" title="Screenshot 2026-05-01 at 1.54.30 AM.png"/>
          <p:cNvPicPr preferRelativeResize="0"/>
          <p:nvPr/>
        </p:nvPicPr>
        <p:blipFill rotWithShape="1">
          <a:blip r:embed="rId4">
            <a:alphaModFix/>
          </a:blip>
          <a:srcRect b="0" l="0" r="9371" t="14625"/>
          <a:stretch/>
        </p:blipFill>
        <p:spPr>
          <a:xfrm>
            <a:off x="8079700" y="4719300"/>
            <a:ext cx="982300" cy="3875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19"/>
          <p:cNvCxnSpPr/>
          <p:nvPr/>
        </p:nvCxnSpPr>
        <p:spPr>
          <a:xfrm>
            <a:off x="7673200" y="4597750"/>
            <a:ext cx="406500" cy="1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" name="Google Shape;112;p19"/>
          <p:cNvSpPr/>
          <p:nvPr/>
        </p:nvSpPr>
        <p:spPr>
          <a:xfrm>
            <a:off x="7375825" y="4440175"/>
            <a:ext cx="267600" cy="1287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18" name="Google Shape;118;p20" title="MMP11_boxplo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0400" y="1658125"/>
            <a:ext cx="4265425" cy="263542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11700" y="1152475"/>
            <a:ext cx="412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Figure 4: MMP11 Boxplots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MMP11 expression stratified by PAM50 molecular subtype (Basal, Her2, LumA, LumB)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Highest median expression in Her-2 subtype. 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Basal subtype shows notably lower MMP11 expression vs. Her2/LumA/LumB, suggesting subtype-specific regulation.</a:t>
            </a:r>
            <a:endParaRPr sz="14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Broad distribution across all groups suggests that matrix remodeling is a fundamental feature of the malignant phenotype in breast cancer.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5071750" y="44502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MMP11: </a:t>
            </a:r>
            <a:r>
              <a:rPr lang="en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Matrix Metalloproteinase, an enzyme that dissolves extracellular matrix (‘glue’ that holds cells in place)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S</a:t>
            </a:r>
            <a:r>
              <a:rPr lang="en" sz="1600">
                <a:solidFill>
                  <a:schemeClr val="dk2"/>
                </a:solidFill>
              </a:rPr>
              <a:t>uccessfully</a:t>
            </a:r>
            <a:r>
              <a:rPr lang="en" sz="1600">
                <a:solidFill>
                  <a:schemeClr val="dk2"/>
                </a:solidFill>
              </a:rPr>
              <a:t> identified thousands of statistically robust DEGs between tumor and normal tissue.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Tumor vs. Normal status was the primary driver of gene expression differences, regardless of individual patient backgrounds.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Identified MMP11 as a candidate biomarker for breast tumor vs. normal tissue.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>
                <a:solidFill>
                  <a:schemeClr val="dk2"/>
                </a:solidFill>
              </a:rPr>
              <a:t>Expression varied across PAM50 subtypes, suggesting that it’s subtype dependent.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 sz="1600">
                <a:solidFill>
                  <a:schemeClr val="dk2"/>
                </a:solidFill>
              </a:rPr>
              <a:t>Limitation</a:t>
            </a:r>
            <a:endParaRPr b="1"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>
                <a:solidFill>
                  <a:schemeClr val="dk2"/>
                </a:solidFill>
              </a:rPr>
              <a:t>Imbalanced cohort (1,111 tumor vs. 113 normal)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 sz="1600">
                <a:solidFill>
                  <a:schemeClr val="dk2"/>
                </a:solidFill>
              </a:rPr>
              <a:t>Future Directions</a:t>
            </a:r>
            <a:endParaRPr b="1"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>
                <a:solidFill>
                  <a:schemeClr val="dk2"/>
                </a:solidFill>
              </a:rPr>
              <a:t>Perform Kaplan-Meier </a:t>
            </a:r>
            <a:r>
              <a:rPr lang="en" sz="1600">
                <a:solidFill>
                  <a:schemeClr val="dk2"/>
                </a:solidFill>
              </a:rPr>
              <a:t>survival</a:t>
            </a:r>
            <a:r>
              <a:rPr lang="en" sz="1600">
                <a:solidFill>
                  <a:schemeClr val="dk2"/>
                </a:solidFill>
              </a:rPr>
              <a:t> </a:t>
            </a:r>
            <a:r>
              <a:rPr lang="en" sz="1600">
                <a:solidFill>
                  <a:schemeClr val="dk2"/>
                </a:solidFill>
              </a:rPr>
              <a:t>analysis</a:t>
            </a:r>
            <a:r>
              <a:rPr lang="en" sz="1600">
                <a:solidFill>
                  <a:schemeClr val="dk2"/>
                </a:solidFill>
              </a:rPr>
              <a:t> to see if patients with the highest MMP11 expression have lower overall survival rates.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 </a:t>
            </a:r>
            <a:endParaRPr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American Cancer Society. (2024). </a:t>
            </a:r>
            <a:r>
              <a:rPr i="1" lang="en" sz="1400">
                <a:solidFill>
                  <a:schemeClr val="dk2"/>
                </a:solidFill>
              </a:rPr>
              <a:t>How common is breast cancer?</a:t>
            </a:r>
            <a:r>
              <a:rPr lang="en" sz="1400">
                <a:solidFill>
                  <a:schemeClr val="dk2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400" u="sng">
                <a:solidFill>
                  <a:schemeClr val="hlink"/>
                </a:solidFill>
                <a:hlinkClick r:id="rId4"/>
              </a:rPr>
              <a:t>https://www.cancer.org/cancer/types/breast-cancer/about/how-common-is-breast-cancer.html</a:t>
            </a:r>
            <a:endParaRPr sz="14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Colaprico, A., Silva, T. C., Olsen, C., Garofano, L., Cava, C., Garolini, D., Sabedot, T. S., Malta, T. M., Pagnotta, S. M., Castiglioni, I., Ceccarelli, M., Bontempi, G., &amp; Noushmehr, H. (2016). </a:t>
            </a:r>
            <a:r>
              <a:rPr i="1" lang="en" sz="1400">
                <a:solidFill>
                  <a:schemeClr val="dk2"/>
                </a:solidFill>
              </a:rPr>
              <a:t>TCGAbiolinks: An R/Bioconductor package for integrative analysis of TCGA data.</a:t>
            </a:r>
            <a:r>
              <a:rPr lang="en" sz="1400">
                <a:solidFill>
                  <a:schemeClr val="dk2"/>
                </a:solidFill>
              </a:rPr>
              <a:t> Bioconductor.</a:t>
            </a:r>
            <a:r>
              <a:rPr lang="en" sz="1400">
                <a:solidFill>
                  <a:schemeClr val="dk2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400" u="sng">
                <a:solidFill>
                  <a:schemeClr val="hlink"/>
                </a:solidFill>
                <a:hlinkClick r:id="rId6"/>
              </a:rPr>
              <a:t>https://bioconductor.org/packages/release/bioc/html/TCGAbiolinks.html</a:t>
            </a:r>
            <a:endParaRPr sz="14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Silva, T. C., Colaprico, A., Olsen, C., D'Angelo, F., Bontempi, G., Ceccarelli, M., &amp; Noushmehr, H. (2016). </a:t>
            </a:r>
            <a:r>
              <a:rPr i="1" lang="en" sz="1400">
                <a:solidFill>
                  <a:schemeClr val="dk2"/>
                </a:solidFill>
              </a:rPr>
              <a:t>TCGAbiolinks: Searching, downloading, and preparing TCGA data.</a:t>
            </a:r>
            <a:r>
              <a:rPr lang="en" sz="1400">
                <a:solidFill>
                  <a:schemeClr val="dk2"/>
                </a:solidFill>
              </a:rPr>
              <a:t> Bioconductor.</a:t>
            </a:r>
            <a:r>
              <a:rPr lang="en" sz="1400">
                <a:solidFill>
                  <a:schemeClr val="dk2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400" u="sng">
                <a:solidFill>
                  <a:schemeClr val="hlink"/>
                </a:solidFill>
                <a:hlinkClick r:id="rId8"/>
              </a:rPr>
              <a:t>https://bioconductor.org/packages/release/bioc/vignettes/TCGAbiolinks/inst/doc/query.html</a:t>
            </a:r>
            <a:endParaRPr sz="14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